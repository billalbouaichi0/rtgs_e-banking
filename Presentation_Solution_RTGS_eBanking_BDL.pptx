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666" y="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179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DE DEVELOPPEMENT LOCAL • DSI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RTGS e-BANKING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de Traitement EDI, Validation Solde SAB &amp; Passerelle SWIFT MT103</a:t>
            </a:r>
            <a:endParaRPr lang="en-US" sz="1600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6F5689AC-AF03-6FF9-48FF-AEA49DCDCFD6}"/>
              </a:ext>
            </a:extLst>
          </p:cNvPr>
          <p:cNvGrpSpPr/>
          <p:nvPr/>
        </p:nvGrpSpPr>
        <p:grpSpPr>
          <a:xfrm>
            <a:off x="203200" y="2571750"/>
            <a:ext cx="8808720" cy="2366010"/>
            <a:chOff x="203200" y="2468880"/>
            <a:chExt cx="10698480" cy="2468880"/>
          </a:xfrm>
        </p:grpSpPr>
        <p:sp>
          <p:nvSpPr>
            <p:cNvPr id="6" name="Shape 4"/>
            <p:cNvSpPr/>
            <p:nvPr/>
          </p:nvSpPr>
          <p:spPr>
            <a:xfrm>
              <a:off x="203200" y="2468880"/>
              <a:ext cx="10698480" cy="2468880"/>
            </a:xfrm>
            <a:prstGeom prst="roundRect">
              <a:avLst>
                <a:gd name="adj" fmla="val 7407"/>
              </a:avLst>
            </a:prstGeom>
            <a:solidFill>
              <a:srgbClr val="0F172A"/>
            </a:solidFill>
            <a:ln w="19050">
              <a:solidFill>
                <a:srgbClr val="334155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477520" y="27432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01</a:t>
              </a:r>
              <a:endParaRPr lang="en-US" sz="1800" b="1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77520" y="32004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Traitement EDI Automatisé</a:t>
              </a:r>
              <a:endParaRPr lang="en-US" sz="1200" b="1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77520" y="3657600"/>
              <a:ext cx="237744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Surveillance de répertoire (Watcher), parsing positionnel et filtrage gros montants &gt;= 1M DZD</a:t>
              </a:r>
              <a:endParaRPr lang="en-US" sz="1000" b="1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83560" y="27432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02</a:t>
              </a:r>
              <a:endParaRPr lang="en-US" sz="1800" b="1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83560" y="32004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Contrôle Solde &amp; Doublons</a:t>
              </a:r>
              <a:endParaRPr lang="en-US" sz="1200" b="1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83560" y="3657600"/>
              <a:ext cx="237744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Interrogation Oracle 11g (SAB) avec workflow forçage/refus et détection anti-doublon</a:t>
              </a:r>
              <a:endParaRPr lang="en-US" sz="1000" b="1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689600" y="27432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03</a:t>
              </a:r>
              <a:endParaRPr lang="en-US" sz="1800" b="1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689600" y="32004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Génération Réglementaire</a:t>
              </a:r>
              <a:endParaRPr lang="en-US" sz="1200" b="1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689600" y="3657600"/>
              <a:ext cx="237744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Création instantanée des messages SWIFT MT103, Fichiers OD et avis SI Retour</a:t>
              </a:r>
              <a:endParaRPr lang="en-US" sz="1000" b="1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295640" y="27432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04</a:t>
              </a:r>
              <a:endParaRPr lang="en-US" sz="1800" b="1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295640" y="32004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Sécurité &amp; SMTP BDL</a:t>
              </a:r>
              <a:endParaRPr lang="en-US" sz="1200" b="1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295640" y="3657600"/>
              <a:ext cx="237744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Rôles RBAC, logs d'audit exhaustifs et réinitialisation de mot de passe via serveur BDL</a:t>
              </a:r>
              <a:endParaRPr lang="en-US" sz="1000" b="1" dirty="0"/>
            </a:p>
          </p:txBody>
        </p:sp>
      </p:grpSp>
      <p:sp>
        <p:nvSpPr>
          <p:cNvPr id="19" name="Text 17"/>
          <p:cNvSpPr/>
          <p:nvPr/>
        </p:nvSpPr>
        <p:spPr>
          <a:xfrm>
            <a:off x="73152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Production 1.0 • Direction des Systèmes d'Information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CONTEXTE &amp; ENJEUX OPÉRATIONNELS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Pourquoi cette plateforme pour la BDL ?</a:t>
            </a:r>
            <a:endParaRPr lang="en-US" sz="2400" dirty="0"/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6813AA47-14EC-D8D7-C4FE-AF79DBBEA935}"/>
              </a:ext>
            </a:extLst>
          </p:cNvPr>
          <p:cNvGrpSpPr/>
          <p:nvPr/>
        </p:nvGrpSpPr>
        <p:grpSpPr>
          <a:xfrm>
            <a:off x="172720" y="1325880"/>
            <a:ext cx="8808720" cy="3611880"/>
            <a:chOff x="731520" y="1554480"/>
            <a:chExt cx="10515600" cy="438912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3383280" cy="4389120"/>
            </a:xfrm>
            <a:prstGeom prst="roundRect">
              <a:avLst>
                <a:gd name="adj" fmla="val 4054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1005840" y="1828800"/>
              <a:ext cx="28346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Exigences Banque d'Algérie (ARTS)</a:t>
              </a:r>
              <a:endParaRPr lang="en-US" sz="14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1005840" y="2468880"/>
              <a:ext cx="2834640" cy="0"/>
            </a:xfrm>
            <a:prstGeom prst="line">
              <a:avLst/>
            </a:prstGeom>
            <a:noFill/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1005840" y="265176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Réglementation stricte sur les virements de gros montants (Seuil &gt;= 1 000 000 DZD).</a:t>
              </a:r>
              <a:endParaRPr lang="en-US" sz="10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005840" y="365760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Règlement interbancaire brut en temps réel via le réseau SWIFT.</a:t>
              </a:r>
              <a:endParaRPr lang="en-US" sz="10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005840" y="466344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Formatage strict des messages MT103 (Codes BIC et comptes de compensation :57A:).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297680" y="1554480"/>
              <a:ext cx="3383280" cy="4389120"/>
            </a:xfrm>
            <a:prstGeom prst="roundRect">
              <a:avLst>
                <a:gd name="adj" fmla="val 4054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572000" y="1828800"/>
              <a:ext cx="28346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Sécurisation des Flux Clients</a:t>
              </a:r>
              <a:endParaRPr lang="en-US" sz="14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2000" y="2468880"/>
              <a:ext cx="2834640" cy="0"/>
            </a:xfrm>
            <a:prstGeom prst="line">
              <a:avLst/>
            </a:prstGeom>
            <a:noFill/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2000" y="265176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Vérification obligatoire de la provision du compte donneur d'ordre avant émission.</a:t>
              </a:r>
              <a:endParaRPr lang="en-US" sz="10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2000" y="365760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Blocage immédiat des doublons sur les libellés et les bénéficiaires.</a:t>
              </a:r>
              <a:endParaRPr lang="en-US" sz="10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572000" y="466344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Génération immédiate d'un SI Retour en cas de non-aboutissement de l'opération.</a:t>
              </a:r>
              <a:endParaRPr lang="en-US" sz="105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863840" y="1554480"/>
              <a:ext cx="3383280" cy="4389120"/>
            </a:xfrm>
            <a:prstGeom prst="roundRect">
              <a:avLst>
                <a:gd name="adj" fmla="val 4054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8138160" y="1828800"/>
              <a:ext cx="28346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Automatisation &amp; Zéro Saisie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8138160" y="2468880"/>
              <a:ext cx="2834640" cy="0"/>
            </a:xfrm>
            <a:prstGeom prst="line">
              <a:avLst/>
            </a:prstGeom>
            <a:noFill/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138160" y="265176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Élimination complète des risques de ressaisie manuelle par les opérateurs.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138160" y="365760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Intégration transparente avec les fichiers EDI de l'e-Banking BDL.</a:t>
              </a:r>
              <a:endParaRPr lang="en-US" sz="10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138160" y="4663440"/>
              <a:ext cx="28346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Génération synchrone des fichiers d'imputation comptable OD pour SAB.</a:t>
              </a:r>
              <a:endParaRPr lang="en-US" sz="105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ARCHITECTURE &amp; FLUX DE TRAITEMENT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Cycle de vie d'un virement de bout en bout</a:t>
            </a:r>
            <a:endParaRPr lang="en-US" sz="2400" dirty="0"/>
          </a:p>
        </p:txBody>
      </p: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3F80D1C3-C261-D8B0-FF83-47842C65AE02}"/>
              </a:ext>
            </a:extLst>
          </p:cNvPr>
          <p:cNvGrpSpPr/>
          <p:nvPr/>
        </p:nvGrpSpPr>
        <p:grpSpPr>
          <a:xfrm>
            <a:off x="386080" y="1325880"/>
            <a:ext cx="8371840" cy="3546462"/>
            <a:chOff x="731520" y="1554480"/>
            <a:chExt cx="10515600" cy="429768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3383280" cy="2011680"/>
            </a:xfrm>
            <a:prstGeom prst="roundRect">
              <a:avLst>
                <a:gd name="adj" fmla="val 6818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960120" y="17373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59E0B"/>
                  </a:solidFill>
                </a:rPr>
                <a:t>1. INGESTION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960120" y="2057400"/>
              <a:ext cx="29260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File Watcher</a:t>
              </a:r>
              <a:endParaRPr lang="en-US" sz="13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960120" y="2468880"/>
              <a:ext cx="292608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Détection continue dans directories/source, déplacement vers input/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297680" y="1554480"/>
              <a:ext cx="3383280" cy="2011680"/>
            </a:xfrm>
            <a:prstGeom prst="roundRect">
              <a:avLst>
                <a:gd name="adj" fmla="val 6818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4526280" y="17373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59E0B"/>
                  </a:solidFill>
                </a:rPr>
                <a:t>2. ANALYSE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526280" y="2057400"/>
              <a:ext cx="29260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Parser EDI</a:t>
              </a:r>
              <a:endParaRPr lang="en-US" sz="13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526280" y="2468880"/>
              <a:ext cx="292608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Découpage strict de l'entête VIRM, corps VIRO/VIRB et fin FVIR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863840" y="1554480"/>
              <a:ext cx="3383280" cy="2011680"/>
            </a:xfrm>
            <a:prstGeom prst="roundRect">
              <a:avLst>
                <a:gd name="adj" fmla="val 6818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8092440" y="17373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59E0B"/>
                  </a:solidFill>
                </a:rPr>
                <a:t>3. FILTRAGE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8092440" y="2057400"/>
              <a:ext cx="29260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Filtres RTGS</a:t>
              </a:r>
              <a:endParaRPr lang="en-US" sz="13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092440" y="2468880"/>
              <a:ext cx="292608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Montant &gt;= 1M DZD &amp; Interbancaire. Les autres sont classés dans ignorer/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31520" y="3840480"/>
              <a:ext cx="3383280" cy="2011680"/>
            </a:xfrm>
            <a:prstGeom prst="roundRect">
              <a:avLst>
                <a:gd name="adj" fmla="val 6818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960120" y="40233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59E0B"/>
                  </a:solidFill>
                </a:rPr>
                <a:t>4. ANTI-DOUBLON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960120" y="4343400"/>
              <a:ext cx="29260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Contrôle Doublons</a:t>
              </a:r>
              <a:endParaRPr lang="en-US" sz="13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960120" y="4754880"/>
              <a:ext cx="292608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Vérification intra-fichier &amp; base de données sur libellés et noms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297680" y="3840480"/>
              <a:ext cx="3383280" cy="2011680"/>
            </a:xfrm>
            <a:prstGeom prst="roundRect">
              <a:avLst>
                <a:gd name="adj" fmla="val 6818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4526280" y="40233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59E0B"/>
                  </a:solidFill>
                </a:rPr>
                <a:t>5. PROVISION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26280" y="4343400"/>
              <a:ext cx="29260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SAB Oracle 11g</a:t>
              </a:r>
              <a:endParaRPr lang="en-US" sz="13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4526280" y="4754880"/>
              <a:ext cx="292608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Vérification solde en direct (ou simulation configurable)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863840" y="3840480"/>
              <a:ext cx="3383280" cy="2011680"/>
            </a:xfrm>
            <a:prstGeom prst="roundRect">
              <a:avLst>
                <a:gd name="adj" fmla="val 6818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92440" y="40233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59E0B"/>
                  </a:solidFill>
                </a:rPr>
                <a:t>6. PRODUCTION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092440" y="4343400"/>
              <a:ext cx="29260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Génération Fichiers</a:t>
              </a:r>
              <a:endParaRPr lang="en-US" sz="13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092440" y="4754880"/>
              <a:ext cx="292608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Création OD, SWIFT MT103 (si validé) ou SI_RET (si refusé)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RÈGLES MÉTIER &amp; WORKFLOW DE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Gestion du Solde Insuffisant &amp; Forçage Manuel</a:t>
            </a:r>
            <a:endParaRPr lang="en-US" sz="2400" dirty="0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E6D81559-0E05-F8DD-BE07-ED576CA5FCB6}"/>
              </a:ext>
            </a:extLst>
          </p:cNvPr>
          <p:cNvGrpSpPr/>
          <p:nvPr/>
        </p:nvGrpSpPr>
        <p:grpSpPr>
          <a:xfrm>
            <a:off x="524413" y="1525270"/>
            <a:ext cx="8077200" cy="3434080"/>
            <a:chOff x="731520" y="1554480"/>
            <a:chExt cx="10698480" cy="438912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5212080" cy="4389120"/>
            </a:xfrm>
            <a:prstGeom prst="roundRect">
              <a:avLst>
                <a:gd name="adj" fmla="val 3125"/>
              </a:avLst>
            </a:prstGeom>
            <a:solidFill>
              <a:srgbClr val="0F172A"/>
            </a:solidFill>
            <a:ln w="19050">
              <a:solidFill>
                <a:srgbClr val="05966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1005840" y="1828800"/>
              <a:ext cx="4663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Cas 1 : Solde Suffisant (Automatique)</a:t>
              </a:r>
              <a:endParaRPr lang="en-US" sz="14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1005840" y="2377440"/>
              <a:ext cx="4663440" cy="3291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2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• Solde SAB &gt;= Montant du virement :</a:t>
              </a:r>
              <a:endParaRPr lang="en-US" sz="1100" dirty="0"/>
            </a:p>
            <a:p>
              <a:pPr marL="0" indent="0">
                <a:lnSpc>
                  <a:spcPts val="2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Validation instantanée du virement</a:t>
              </a:r>
              <a:endParaRPr lang="en-US" sz="1100" dirty="0"/>
            </a:p>
            <a:p>
              <a:pPr marL="0" indent="0">
                <a:lnSpc>
                  <a:spcPts val="2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Génération automatique du message SWIFT MT103</a:t>
              </a:r>
              <a:endParaRPr lang="en-US" sz="1100" dirty="0"/>
            </a:p>
            <a:p>
              <a:pPr marL="0" indent="0">
                <a:lnSpc>
                  <a:spcPts val="2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Génération du fichier d'imputation comptable OD</a:t>
              </a:r>
              <a:endParaRPr lang="en-US" sz="1100" dirty="0"/>
            </a:p>
            <a:p>
              <a:pPr marL="0" indent="0">
                <a:lnSpc>
                  <a:spcPts val="2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Statut virement : VALIDE_TRAITE</a:t>
              </a:r>
              <a:endParaRPr lang="en-US" sz="1100" dirty="0"/>
            </a:p>
            <a:p>
              <a:pPr marL="0" indent="0">
                <a:lnSpc>
                  <a:spcPts val="2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Log d'audit de succès avec détails du solde</a:t>
              </a:r>
              <a:endParaRPr lang="en-US" sz="11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217920" y="1554480"/>
              <a:ext cx="5212080" cy="4389120"/>
            </a:xfrm>
            <a:prstGeom prst="roundRect">
              <a:avLst>
                <a:gd name="adj" fmla="val 3125"/>
              </a:avLst>
            </a:prstGeom>
            <a:solidFill>
              <a:srgbClr val="0F172A"/>
            </a:solidFill>
            <a:ln w="19050">
              <a:solidFill>
                <a:srgbClr val="F59E0B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492240" y="1828800"/>
              <a:ext cx="4663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59E0B"/>
                  </a:solidFill>
                </a:rPr>
                <a:t>Cas 2 : Solde Insuffisant (Décision Manuelle)</a:t>
              </a:r>
              <a:endParaRPr lang="en-US" sz="14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492240" y="2377440"/>
              <a:ext cx="4663440" cy="3291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• Le virement n'est JAMAIS rejeté d'office :</a:t>
              </a: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Mise en statut ATTENTE_VALIDATION_SOLDE</a:t>
              </a: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Alerte visuelle prioritaire sur le Dashboard</a:t>
              </a: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• Option A : VALIDER (Forçage Manuel)</a:t>
              </a: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Autorise l'opération et génère MT103 + OD</a:t>
              </a: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• Option B : REFUSER (Rejet Manuel)</a:t>
              </a:r>
              <a:endParaRPr lang="en-US" sz="110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  → Génère le fichier SI_RETOUR ("non comptabilisé")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CONFORMITÉ &amp; SÉCURITÉ DES TRANSACTIONS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Contrôle Anti-Doublons &amp; Fichiers Produits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552236"/>
              </p:ext>
            </p:extLst>
          </p:nvPr>
        </p:nvGraphicFramePr>
        <p:xfrm>
          <a:off x="502920" y="1554480"/>
          <a:ext cx="8138160" cy="2174240"/>
        </p:xfrm>
        <a:graphic>
          <a:graphicData uri="http://schemas.openxmlformats.org/drawingml/2006/table">
            <a:tbl>
              <a:tblPr/>
              <a:tblGrid>
                <a:gridCol w="1391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5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58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53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8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de Fichier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Règle de 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MT103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MT103_{id}_{ordre}.txt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directories/generated_mt103/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 validé avec balise :57A: dynamique (BanqueRef)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Ordre Débit (OD)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OD_{id}_{ordre}.txt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directories/generated_od/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Généré pour intégration comptable dans le SAB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Retour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SI_RET_{libelle}_{id}.txt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directories/si_retour/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Généré sur refus manuel ou rejet automatique doublon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Ignorer RTGS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{nomFichierOriginal}.edi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directories/input/ignorer/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Fichiers intrabancaires ou montant &lt; 1 000 000 DZD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e 7">
            <a:extLst>
              <a:ext uri="{FF2B5EF4-FFF2-40B4-BE49-F238E27FC236}">
                <a16:creationId xmlns:a16="http://schemas.microsoft.com/office/drawing/2014/main" id="{D33BA441-85E5-71C9-6DFB-B4AAD97BE74E}"/>
              </a:ext>
            </a:extLst>
          </p:cNvPr>
          <p:cNvGrpSpPr/>
          <p:nvPr/>
        </p:nvGrpSpPr>
        <p:grpSpPr>
          <a:xfrm>
            <a:off x="502920" y="3993477"/>
            <a:ext cx="8138160" cy="937260"/>
            <a:chOff x="731520" y="4206240"/>
            <a:chExt cx="8138160" cy="1588868"/>
          </a:xfrm>
        </p:grpSpPr>
        <p:sp>
          <p:nvSpPr>
            <p:cNvPr id="5" name="Shape 2"/>
            <p:cNvSpPr/>
            <p:nvPr/>
          </p:nvSpPr>
          <p:spPr>
            <a:xfrm>
              <a:off x="731520" y="4206240"/>
              <a:ext cx="8138160" cy="1588868"/>
            </a:xfrm>
            <a:prstGeom prst="roundRect">
              <a:avLst>
                <a:gd name="adj" fmla="val 7895"/>
              </a:avLst>
            </a:prstGeom>
            <a:solidFill>
              <a:srgbClr val="1E293B"/>
            </a:solidFill>
            <a:ln w="19050">
              <a:solidFill>
                <a:srgbClr val="8B5CF6"/>
              </a:solidFill>
              <a:prstDash val="solid"/>
            </a:ln>
          </p:spPr>
        </p:sp>
        <p:sp>
          <p:nvSpPr>
            <p:cNvPr id="4" name="Text 3"/>
            <p:cNvSpPr/>
            <p:nvPr/>
          </p:nvSpPr>
          <p:spPr>
            <a:xfrm>
              <a:off x="1005840" y="4389120"/>
              <a:ext cx="7651262" cy="25087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C084FC"/>
                  </a:solidFill>
                </a:rPr>
                <a:t>🛡️ Mécanisme de Protection Anti-Doublons (Nom &amp; Libellé)</a:t>
              </a:r>
              <a:endParaRPr lang="en-US" sz="1200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1005840" y="4754880"/>
              <a:ext cx="7651262" cy="91987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60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</a:rPr>
                <a:t>• Détection Intra-Remise : Détection instantanée si un libellé ou un bénéficiaire apparaît plus d'une fois dans le même fichier.</a:t>
              </a:r>
              <a:endParaRPr lang="en-US" sz="1000" dirty="0"/>
            </a:p>
            <a:p>
              <a:pPr marL="0" indent="0">
                <a:lnSpc>
                  <a:spcPts val="160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</a:rPr>
                <a:t>• Détection Inter-Remises : Recherche dans l'historique des transactions déjà traitées pour bloquer les re-soumissions accidentelles.</a:t>
              </a:r>
              <a:endParaRPr lang="en-US" sz="1000" dirty="0"/>
            </a:p>
            <a:p>
              <a:pPr marL="0" indent="0">
                <a:lnSpc>
                  <a:spcPts val="1600"/>
                </a:lnSpc>
                <a:buNone/>
              </a:pPr>
              <a:r>
                <a:rPr lang="en-US" sz="1000" dirty="0">
                  <a:solidFill>
                    <a:srgbClr val="FFFFFF"/>
                  </a:solidFill>
                </a:rPr>
                <a:t>• Action : Rejet automatique (statut REJETE_DOUBLON) et émission immédiate du SI Retour sans appel SAB.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GOUVERNANCE &amp; ADMINISTRATION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Gestion des Utilisateurs &amp; Serveur SMTP BDL</a:t>
            </a:r>
            <a:endParaRPr lang="en-US" sz="2400" dirty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39D94BF-502F-EFAF-9715-DBAEFBF4DC79}"/>
              </a:ext>
            </a:extLst>
          </p:cNvPr>
          <p:cNvGrpSpPr/>
          <p:nvPr/>
        </p:nvGrpSpPr>
        <p:grpSpPr>
          <a:xfrm>
            <a:off x="502920" y="1343660"/>
            <a:ext cx="8138160" cy="3495040"/>
            <a:chOff x="731520" y="1554480"/>
            <a:chExt cx="10515600" cy="438912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3383280" cy="4389120"/>
            </a:xfrm>
            <a:prstGeom prst="roundRect">
              <a:avLst>
                <a:gd name="adj" fmla="val 4054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1005840" y="1828800"/>
              <a:ext cx="2834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0B981"/>
                  </a:solidFill>
                </a:rPr>
                <a:t>Authentification &amp; Rôles RBAC</a:t>
              </a:r>
              <a:endParaRPr lang="en-US" sz="13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1005840" y="2377440"/>
              <a:ext cx="2834640" cy="0"/>
            </a:xfrm>
            <a:prstGeom prst="line">
              <a:avLst/>
            </a:prstGeom>
            <a:noFill/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1005840" y="2560320"/>
              <a:ext cx="2834640" cy="3108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Jetons cryptographiques JWT sécurisés.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Rôle Administrateur : gestion des utilisateurs, validation/forçage, configuration watcher.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Rôle Opérateur : traitement et validation des virements.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Rôle Consultation : lecture seule des rapports.</a:t>
              </a:r>
              <a:endParaRPr lang="en-US" sz="10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297680" y="1554480"/>
              <a:ext cx="3383280" cy="4389120"/>
            </a:xfrm>
            <a:prstGeom prst="roundRect">
              <a:avLst>
                <a:gd name="adj" fmla="val 4054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4572000" y="1828800"/>
              <a:ext cx="2834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0B981"/>
                  </a:solidFill>
                </a:rPr>
                <a:t>Serveur SMTP BDL (10.121.2.50)</a:t>
              </a:r>
              <a:endParaRPr lang="en-US" sz="13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572000" y="2377440"/>
              <a:ext cx="2834640" cy="0"/>
            </a:xfrm>
            <a:prstGeom prst="line">
              <a:avLst/>
            </a:prstGeom>
            <a:noFill/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572000" y="2560320"/>
              <a:ext cx="2834640" cy="3108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Connexion sécurisée STARTTLS sur le port 587.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Compte de service BDL\rtgsebank-bdl.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Envoi automatique d'un mail d'initialisation lors de la création d'un collaborateur.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Token unique 32 octets avec validité 24h.</a:t>
              </a:r>
              <a:endParaRPr lang="en-US" sz="10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863840" y="1554480"/>
              <a:ext cx="3383280" cy="4389120"/>
            </a:xfrm>
            <a:prstGeom prst="roundRect">
              <a:avLst>
                <a:gd name="adj" fmla="val 4054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8138160" y="1828800"/>
              <a:ext cx="2834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0B981"/>
                  </a:solidFill>
                </a:rPr>
                <a:t>Portail Reset Password</a:t>
              </a:r>
              <a:endParaRPr lang="en-US" sz="13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8138160" y="2377440"/>
              <a:ext cx="2834640" cy="0"/>
            </a:xfrm>
            <a:prstGeom prst="line">
              <a:avLst/>
            </a:prstGeom>
            <a:noFill/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8138160" y="2560320"/>
              <a:ext cx="2834640" cy="3108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URL configurée (https://test-jibaya.bdl.dz).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Page dédiée de définition du mot de passe.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Vérification en temps réel de l'intégrité du lien.</a:t>
              </a:r>
              <a:endParaRPr lang="en-US" sz="1050" dirty="0"/>
            </a:p>
            <a:p>
              <a:pPr marL="0" indent="0">
                <a:lnSpc>
                  <a:spcPts val="18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• Hachage bcrypt des mots de passe en base MySQL.</a:t>
              </a:r>
              <a:endParaRPr lang="en-US" sz="105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SUPERVISION &amp; PILOTAGE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Tableau de Bord &amp; Auditabilité Totale</a:t>
            </a:r>
            <a:endParaRPr lang="en-US" sz="2400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CA05A996-85A8-A1F7-3496-AAA4738C14AD}"/>
              </a:ext>
            </a:extLst>
          </p:cNvPr>
          <p:cNvGrpSpPr/>
          <p:nvPr/>
        </p:nvGrpSpPr>
        <p:grpSpPr>
          <a:xfrm>
            <a:off x="464564" y="1404779"/>
            <a:ext cx="8219440" cy="3589020"/>
            <a:chOff x="731520" y="1554480"/>
            <a:chExt cx="10698480" cy="438912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2468880" cy="128016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868680" y="16916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Volume Global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68680" y="196596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Flux RTGS</a:t>
              </a:r>
              <a:endParaRPr lang="en-US" sz="14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68680" y="23774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</a:rPr>
                <a:t>Monitoring continu</a:t>
              </a:r>
              <a:endParaRPr lang="en-US" sz="9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01568" y="1554480"/>
              <a:ext cx="2468880" cy="128016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538728" y="16916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Validés &amp; Émis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538728" y="196596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MT103 + OD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538728" y="23774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</a:rPr>
                <a:t>Imputation SAB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71616" y="1554480"/>
              <a:ext cx="2468880" cy="128016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208776" y="16916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Attente Décision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208776" y="196596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Alerte Solde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208776" y="23774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</a:rPr>
                <a:t>Action requise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8741664" y="1554480"/>
              <a:ext cx="2468880" cy="128016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8878824" y="16916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94A3B8"/>
                  </a:solidFill>
                </a:rPr>
                <a:t>Rejetés / Doublons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878824" y="196596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SI Retour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878824" y="237744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</a:rPr>
                <a:t>Trace avis client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31520" y="3108960"/>
              <a:ext cx="10698480" cy="2834640"/>
            </a:xfrm>
            <a:prstGeom prst="roundRect">
              <a:avLst>
                <a:gd name="adj" fmla="val 4839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1005840" y="3291840"/>
              <a:ext cx="10058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Outils de Supervision Intégrés dans l'Interface Web :</a:t>
              </a:r>
              <a:endParaRPr lang="en-US" sz="13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1005840" y="3749040"/>
              <a:ext cx="100584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94A3B8"/>
                  </a:solidFill>
                </a:rPr>
                <a:t>• Visualisation des Alertes de Solde : Liste immédiate des virements requérant une décision opérateur.</a:t>
              </a:r>
              <a:endParaRPr lang="en-US" sz="105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1005840" y="4133088"/>
              <a:ext cx="100584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94A3B8"/>
                  </a:solidFill>
                </a:rPr>
                <a:t>• Registre Multi-Critères : Recherche et filtrage par numéro d'ordre, libellé, statut, banque réceptrice ou date.</a:t>
              </a:r>
              <a:endParaRPr lang="en-US" sz="10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1005840" y="4517136"/>
              <a:ext cx="100584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94A3B8"/>
                  </a:solidFill>
                </a:rPr>
                <a:t>• Visionneuse Fichiers Intégrée : Consultation directe du contenu brut des fichiers EDI, MT103, OD et SI Retour.</a:t>
              </a:r>
              <a:endParaRPr lang="en-US" sz="105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1005840" y="4901184"/>
              <a:ext cx="100584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94A3B8"/>
                  </a:solidFill>
                </a:rPr>
                <a:t>• Simulateur EDI Intégré : Outil de test permettant de générer et d'injecter des cas de test (valide, rejet, doublon).</a:t>
              </a:r>
              <a:endParaRPr lang="en-US" sz="10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1005840" y="5285232"/>
              <a:ext cx="100584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94A3B8"/>
                  </a:solidFill>
                </a:rPr>
                <a:t>• Journal d'Audit TraitementLog : Traçabilité chronologique détaillée (Ingestion, Filtres, Requêtes SAB, Émissions).</a:t>
              </a:r>
              <a:endParaRPr lang="en-US" sz="105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VALEUR AJOUTÉE &amp; BÉNÉFICES CLÉS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Synthèse des Gains pour la BDL</a:t>
            </a:r>
            <a:endParaRPr lang="en-US" sz="2400" dirty="0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12BA30C-CC32-D68D-9B0E-3513689447D1}"/>
              </a:ext>
            </a:extLst>
          </p:cNvPr>
          <p:cNvGrpSpPr/>
          <p:nvPr/>
        </p:nvGrpSpPr>
        <p:grpSpPr>
          <a:xfrm>
            <a:off x="492760" y="1414526"/>
            <a:ext cx="8158480" cy="3589020"/>
            <a:chOff x="731520" y="1554480"/>
            <a:chExt cx="10607040" cy="411480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5212080" cy="192024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1005840" y="1783080"/>
              <a:ext cx="4663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⚡ Rapidité &amp; Temps Réel</a:t>
              </a:r>
              <a:endParaRPr lang="en-US" sz="14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1005840" y="2240280"/>
              <a:ext cx="46634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Traitement automatique des fichiers dès leur dépôt avec génération synchrone des messages SWIFT.</a:t>
              </a:r>
              <a:endParaRPr lang="en-US" sz="11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126480" y="1554480"/>
              <a:ext cx="5212080" cy="192024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400800" y="1783080"/>
              <a:ext cx="4663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🎯 Zéro Risque Opérationnel</a:t>
              </a:r>
              <a:endParaRPr lang="en-US" sz="14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400800" y="2240280"/>
              <a:ext cx="46634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Suppression des erreurs manuelles et blocage systématique des doublons sur libellés et bénéficiaires.</a:t>
              </a:r>
              <a:endParaRPr lang="en-US" sz="11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731520" y="3749040"/>
              <a:ext cx="5212080" cy="192024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1005840" y="3977640"/>
              <a:ext cx="4663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🔒 Maîtrise de la Provision</a:t>
              </a:r>
              <a:endParaRPr lang="en-US" sz="1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005840" y="4434840"/>
              <a:ext cx="46634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Vérification en amont dans Oracle SAB évitant tout découvert non autorisé lors de l'émission RTGS.</a:t>
              </a:r>
              <a:endParaRPr lang="en-US" sz="11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126480" y="3749040"/>
              <a:ext cx="5212080" cy="1920240"/>
            </a:xfrm>
            <a:prstGeom prst="roundRect">
              <a:avLst>
                <a:gd name="adj" fmla="val 7143"/>
              </a:avLst>
            </a:prstGeom>
            <a:solidFill>
              <a:srgbClr val="0F172A"/>
            </a:solidFill>
            <a:ln w="12700">
              <a:solidFill>
                <a:srgbClr val="334155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400800" y="3977640"/>
              <a:ext cx="4663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0B981"/>
                  </a:solidFill>
                </a:rPr>
                <a:t>📜 Conformité Réglementaire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00800" y="4434840"/>
              <a:ext cx="46634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</a:rPr>
                <a:t>Respect rigoureux des standards de la Banque d'Algérie pour le système de gros montants ARTS.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904</TotalTime>
  <Words>1077</Words>
  <Application>Microsoft Office PowerPoint</Application>
  <PresentationFormat>Affichage à l'écran (16:9)</PresentationFormat>
  <Paragraphs>150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BDL (Banque de Développement Local)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Solution RTGS e-Banking - Traitement EDI &amp; Passerelle SWIFT / SAB</dc:title>
  <dc:subject>PptxGenJS Presentation</dc:subject>
  <dc:creator>DSI - Banque de Développement Local</dc:creator>
  <cp:lastModifiedBy>Billal BOUAICHI</cp:lastModifiedBy>
  <cp:revision>3</cp:revision>
  <dcterms:created xsi:type="dcterms:W3CDTF">2026-09-02T16:54:04Z</dcterms:created>
  <dcterms:modified xsi:type="dcterms:W3CDTF">2026-09-03T08:00:16Z</dcterms:modified>
</cp:coreProperties>
</file>